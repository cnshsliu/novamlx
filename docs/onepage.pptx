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/>
    <p:restoredTop sz="94680"/>
  </p:normalViewPr>
  <p:slideViewPr>
    <p:cSldViewPr snapToGrid="0">
      <p:cViewPr varScale="1">
        <p:scale>
          <a:sx n="133" d="100"/>
          <a:sy n="133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0D0B-BBD4-5358-96F2-3AA1C2DCE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A4933-88E4-E077-CA1A-0CEA1E30C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08D99-D0BE-EBE6-1292-C4FEA7F8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2D1B-CC7A-4FAC-85E8-D92880D5B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957D8-B4CF-F982-0BF4-C8D43C2D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595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369E-C9B6-9E78-E36F-078ABA15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B198-5304-B4F4-96A4-5DCEE5218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FC42-E9A6-72DD-1FB1-7446B279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7D07-F6C3-71C8-0390-619C3D42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DDCB8-A611-66CC-4F24-B08FA431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790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5641-9BDE-5D7B-3548-597BDD1B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C33EB-6134-929C-735A-62F8CCF3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382F9-ED60-6350-FFA0-C6BF74FC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FEA0-5BFC-A55C-88B1-8E68CD2D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BB02-2E9E-D89A-0FB0-38991D9C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437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A229-80FF-B651-DA85-1C1D7DB35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8241-2E97-7FB3-EDD9-B93AF898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8F43E-1C94-45A6-B15F-629D8B04D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F1D1D-AEDD-3478-7E06-55108C46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5F6DB-D58A-E7A0-AB6C-68948212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4D190-15D1-6DFF-072F-F5B31CD54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807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AC68-9553-0C7A-859D-43F1B28B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9020A-AFCF-3203-6009-7975A8777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8AA6-CF69-59B0-AEA3-46710C0A6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6D922-37EF-2F1B-0453-06462EFEF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D9F36-B33E-87FB-EC8E-F9FF294EB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1F2C4F-7D20-CFD7-91AE-70FE5EFB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2484B8-A556-4F1D-70A4-11D1FF75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6D2A2-27AB-7C36-ECF3-C5688560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1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6911-B79D-00A7-9A79-2B47F63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32E85-3809-F189-90FA-69E600B2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42207-5C4D-2911-7100-41E97C0F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E895E-B972-E0C0-DE38-D76FBBE0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17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2A402-3B2A-897C-2C3E-997076C0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EF07C-02F7-2812-6CA3-C5F3F746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C5D1D-8555-540F-785D-5341E393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315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F147-C32E-9B4A-5A38-941710D6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52BE1-6B1D-2DA1-09F2-DF138F29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01EFB-D90A-4C74-DA86-B7BAF0B97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C2514-0D56-26E6-5A03-727D2EE6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76F92-5A1C-8398-006D-C1263281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91BBB-A3C9-41CA-7E9E-9A74DA32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014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BFB7-5D4A-E504-8499-544084C1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AA6D8-D41D-00D0-9DD0-2D58EB4EB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0AFF9-AC87-5936-4B02-9F92AEEBF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7E596-DFA7-34C2-3416-F26A8707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C0249-D49E-561D-DBC1-26F7516E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B499F-E477-5968-D7C7-93AAE035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915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568E-7908-EA3E-1334-CE3D3433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BE602-9226-C097-4C5A-4BF8DCECE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42270-C349-4B23-2087-E2AF511A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E2C-6F90-88D7-9889-2D662E69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9D521-F73D-4BE1-7DB2-C9C37080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86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D78247-F65A-4FF6-3831-E1995590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93C9A-AE61-6028-DF80-51BDB9211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84174-9B5E-D28C-4149-03926C0A9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3522-3763-43FA-11C3-197AE2FE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78DB1-0130-7A39-9AA9-6CD56C6D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912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3DEC9-8E58-25B9-978E-F5184F41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E4D8F-16DA-D50B-2A6D-68E46CEB8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6A8A6-E156-7935-C378-1F1AEB4F3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A5C63-89FD-8542-8B40-DE9B250AA97F}" type="datetimeFigureOut">
              <a:rPr kumimoji="1" lang="zh-CN" altLang="en-US" smtClean="0"/>
              <a:t>2026/7/14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D451F-4C8D-B5CC-A2B3-B12266B7A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9330A-3CEF-AABA-0E8C-1CC8B7052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457BC-7EBA-BF47-80B1-B2ABADA923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183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Callout 2 (No Border) 4">
            <a:extLst>
              <a:ext uri="{FF2B5EF4-FFF2-40B4-BE49-F238E27FC236}">
                <a16:creationId xmlns:a16="http://schemas.microsoft.com/office/drawing/2014/main" id="{4F128300-4C0D-916F-190E-0ABCC12F0F54}"/>
              </a:ext>
            </a:extLst>
          </p:cNvPr>
          <p:cNvSpPr/>
          <p:nvPr/>
        </p:nvSpPr>
        <p:spPr>
          <a:xfrm>
            <a:off x="433137" y="221381"/>
            <a:ext cx="1809549" cy="972152"/>
          </a:xfrm>
          <a:prstGeom prst="callout2">
            <a:avLst>
              <a:gd name="adj1" fmla="val 18751"/>
              <a:gd name="adj2" fmla="val 99114"/>
              <a:gd name="adj3" fmla="val 31621"/>
              <a:gd name="adj4" fmla="val 117376"/>
              <a:gd name="adj5" fmla="val 54084"/>
              <a:gd name="adj6" fmla="val 185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运行状态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实时呈现</a:t>
            </a:r>
          </a:p>
        </p:txBody>
      </p:sp>
      <p:sp>
        <p:nvSpPr>
          <p:cNvPr id="6" name="Line Callout 2 (No Border) 5">
            <a:extLst>
              <a:ext uri="{FF2B5EF4-FFF2-40B4-BE49-F238E27FC236}">
                <a16:creationId xmlns:a16="http://schemas.microsoft.com/office/drawing/2014/main" id="{769364F7-F224-535F-DD51-7462A63CBDCF}"/>
              </a:ext>
            </a:extLst>
          </p:cNvPr>
          <p:cNvSpPr/>
          <p:nvPr/>
        </p:nvSpPr>
        <p:spPr>
          <a:xfrm>
            <a:off x="433135" y="3566159"/>
            <a:ext cx="1809549" cy="972152"/>
          </a:xfrm>
          <a:prstGeom prst="callout2">
            <a:avLst>
              <a:gd name="adj1" fmla="val 18751"/>
              <a:gd name="adj2" fmla="val 99114"/>
              <a:gd name="adj3" fmla="val -20854"/>
              <a:gd name="adj4" fmla="val 114717"/>
              <a:gd name="adj5" fmla="val -233045"/>
              <a:gd name="adj6" fmla="val 177269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多个来源端点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一个内部端点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多策略 负载均衡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Line Callout 2 (No Border) 6">
            <a:extLst>
              <a:ext uri="{FF2B5EF4-FFF2-40B4-BE49-F238E27FC236}">
                <a16:creationId xmlns:a16="http://schemas.microsoft.com/office/drawing/2014/main" id="{2990D016-F948-3C79-7A5C-4523539C763B}"/>
              </a:ext>
            </a:extLst>
          </p:cNvPr>
          <p:cNvSpPr/>
          <p:nvPr/>
        </p:nvSpPr>
        <p:spPr>
          <a:xfrm>
            <a:off x="433135" y="2451233"/>
            <a:ext cx="1809549" cy="972152"/>
          </a:xfrm>
          <a:prstGeom prst="callout2">
            <a:avLst>
              <a:gd name="adj1" fmla="val 18751"/>
              <a:gd name="adj2" fmla="val 99114"/>
              <a:gd name="adj3" fmla="val -6993"/>
              <a:gd name="adj4" fmla="val 117908"/>
              <a:gd name="adj5" fmla="val -150866"/>
              <a:gd name="adj6" fmla="val 178865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TokenHub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对供应商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多协议转换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" name="Line Callout 2 (No Border) 7">
            <a:extLst>
              <a:ext uri="{FF2B5EF4-FFF2-40B4-BE49-F238E27FC236}">
                <a16:creationId xmlns:a16="http://schemas.microsoft.com/office/drawing/2014/main" id="{82136B75-EEFF-2001-54BC-0B4F89F54302}"/>
              </a:ext>
            </a:extLst>
          </p:cNvPr>
          <p:cNvSpPr/>
          <p:nvPr/>
        </p:nvSpPr>
        <p:spPr>
          <a:xfrm>
            <a:off x="433135" y="1336307"/>
            <a:ext cx="1809549" cy="972152"/>
          </a:xfrm>
          <a:prstGeom prst="callout2">
            <a:avLst>
              <a:gd name="adj1" fmla="val 18751"/>
              <a:gd name="adj2" fmla="val 99114"/>
              <a:gd name="adj3" fmla="val -4023"/>
              <a:gd name="adj4" fmla="val 120568"/>
              <a:gd name="adj5" fmla="val -49876"/>
              <a:gd name="adj6" fmla="val 184184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本地推理</a:t>
            </a:r>
            <a:b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</a:b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Apple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M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系列</a:t>
            </a:r>
            <a:b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</a:b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大模型推理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" name="Line Callout 2 (No Border) 8">
            <a:extLst>
              <a:ext uri="{FF2B5EF4-FFF2-40B4-BE49-F238E27FC236}">
                <a16:creationId xmlns:a16="http://schemas.microsoft.com/office/drawing/2014/main" id="{59C12A97-2F21-9041-12ED-FD43A975B214}"/>
              </a:ext>
            </a:extLst>
          </p:cNvPr>
          <p:cNvSpPr/>
          <p:nvPr/>
        </p:nvSpPr>
        <p:spPr>
          <a:xfrm>
            <a:off x="433135" y="4681085"/>
            <a:ext cx="1809549" cy="972152"/>
          </a:xfrm>
          <a:prstGeom prst="callout2">
            <a:avLst>
              <a:gd name="adj1" fmla="val 18751"/>
              <a:gd name="adj2" fmla="val 99114"/>
              <a:gd name="adj3" fmla="val -34715"/>
              <a:gd name="adj4" fmla="val 112057"/>
              <a:gd name="adj5" fmla="val -330074"/>
              <a:gd name="adj6" fmla="val 17939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实验场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配置测试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" name="Line Callout 2 (No Border) 9">
            <a:extLst>
              <a:ext uri="{FF2B5EF4-FFF2-40B4-BE49-F238E27FC236}">
                <a16:creationId xmlns:a16="http://schemas.microsoft.com/office/drawing/2014/main" id="{162BB299-CBD0-B185-E1D8-D6BA55C5F622}"/>
              </a:ext>
            </a:extLst>
          </p:cNvPr>
          <p:cNvSpPr/>
          <p:nvPr/>
        </p:nvSpPr>
        <p:spPr>
          <a:xfrm>
            <a:off x="433134" y="5796011"/>
            <a:ext cx="1809549" cy="972152"/>
          </a:xfrm>
          <a:prstGeom prst="callout2">
            <a:avLst>
              <a:gd name="adj1" fmla="val 18751"/>
              <a:gd name="adj2" fmla="val 99114"/>
              <a:gd name="adj3" fmla="val -25805"/>
              <a:gd name="adj4" fmla="val 113653"/>
              <a:gd name="adj5" fmla="val -428094"/>
              <a:gd name="adj6" fmla="val 177269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KEY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管理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屏蔽上游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KEY</a:t>
            </a:r>
          </a:p>
          <a:p>
            <a:pPr algn="ctr"/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分发内部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3FE30-BCB4-EC43-7F65-6E2F007D4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623" y="95262"/>
            <a:ext cx="4543359" cy="32440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7E3B76-F7AA-E3F4-FC1D-DF693A50A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821" y="1022292"/>
            <a:ext cx="4002475" cy="285788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</p:pic>
      <p:sp>
        <p:nvSpPr>
          <p:cNvPr id="13" name="Line Callout 2 (No Border) 12">
            <a:extLst>
              <a:ext uri="{FF2B5EF4-FFF2-40B4-BE49-F238E27FC236}">
                <a16:creationId xmlns:a16="http://schemas.microsoft.com/office/drawing/2014/main" id="{A4BB3917-5216-CEE4-80DC-A133FF505D70}"/>
              </a:ext>
            </a:extLst>
          </p:cNvPr>
          <p:cNvSpPr/>
          <p:nvPr/>
        </p:nvSpPr>
        <p:spPr>
          <a:xfrm>
            <a:off x="8374507" y="284578"/>
            <a:ext cx="3578761" cy="1182303"/>
          </a:xfrm>
          <a:prstGeom prst="callout2">
            <a:avLst>
              <a:gd name="adj1" fmla="val 12810"/>
              <a:gd name="adj2" fmla="val 710"/>
              <a:gd name="adj3" fmla="val 87482"/>
              <a:gd name="adj4" fmla="val -19195"/>
              <a:gd name="adj5" fmla="val 96434"/>
              <a:gd name="adj6" fmla="val -283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支持多模态推理</a:t>
            </a:r>
            <a:b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</a:b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LLM/Vision/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嵌入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/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音视频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/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图片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F8C1E-CBA3-49B8-B744-2EAE28878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366" y="940840"/>
            <a:ext cx="3110497" cy="395467"/>
          </a:xfrm>
          <a:prstGeom prst="roundRect">
            <a:avLst/>
          </a:prstGeom>
          <a:effectLst>
            <a:outerShdw blurRad="63500" sx="105298" sy="105298" algn="ctr" rotWithShape="0">
              <a:schemeClr val="bg1"/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92435E-135F-4078-E411-BC758BE41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004" y="2084641"/>
            <a:ext cx="3894063" cy="2780473"/>
          </a:xfrm>
          <a:prstGeom prst="rect">
            <a:avLst/>
          </a:prstGeom>
        </p:spPr>
      </p:pic>
      <p:sp>
        <p:nvSpPr>
          <p:cNvPr id="17" name="Line Callout 2 (No Border) 16">
            <a:extLst>
              <a:ext uri="{FF2B5EF4-FFF2-40B4-BE49-F238E27FC236}">
                <a16:creationId xmlns:a16="http://schemas.microsoft.com/office/drawing/2014/main" id="{D3806E0F-E87F-CA57-33AB-7BA44E3D43D3}"/>
              </a:ext>
            </a:extLst>
          </p:cNvPr>
          <p:cNvSpPr/>
          <p:nvPr/>
        </p:nvSpPr>
        <p:spPr>
          <a:xfrm>
            <a:off x="8374506" y="4801811"/>
            <a:ext cx="3578761" cy="1702851"/>
          </a:xfrm>
          <a:prstGeom prst="callout2">
            <a:avLst>
              <a:gd name="adj1" fmla="val 12810"/>
              <a:gd name="adj2" fmla="val 710"/>
              <a:gd name="adj3" fmla="val -5267"/>
              <a:gd name="adj4" fmla="val -6015"/>
              <a:gd name="adj5" fmla="val -108865"/>
              <a:gd name="adj6" fmla="val -1781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多来源 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整合成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一个对内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b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</a:br>
            <a:b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</a:b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支持混合整合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公有云</a:t>
            </a:r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r>
              <a:rPr kumimoji="1"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私有云</a:t>
            </a:r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r>
              <a:rPr kumimoji="1"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 办公级</a:t>
            </a:r>
            <a:r>
              <a:rPr kumimoji="1"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API</a:t>
            </a:r>
            <a:endParaRPr kumimoji="1"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E67443-8D67-E375-CA7D-7942D3A22682}"/>
              </a:ext>
            </a:extLst>
          </p:cNvPr>
          <p:cNvSpPr txBox="1"/>
          <p:nvPr/>
        </p:nvSpPr>
        <p:spPr>
          <a:xfrm>
            <a:off x="3532472" y="5380522"/>
            <a:ext cx="3231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运行环境： </a:t>
            </a:r>
            <a:r>
              <a:rPr kumimoji="1" lang="en-US" altLang="zh-CN" dirty="0"/>
              <a:t>Mac</a:t>
            </a:r>
            <a:r>
              <a:rPr kumimoji="1" lang="zh-CN" altLang="en-US" dirty="0"/>
              <a:t> </a:t>
            </a:r>
            <a:r>
              <a:rPr kumimoji="1" lang="en-US" altLang="zh-CN" dirty="0"/>
              <a:t>M</a:t>
            </a:r>
            <a:r>
              <a:rPr kumimoji="1" lang="zh-CN" altLang="en-US" dirty="0"/>
              <a:t>系列芯片</a:t>
            </a:r>
            <a:endParaRPr kumimoji="1" lang="en-US" altLang="zh-CN" dirty="0"/>
          </a:p>
          <a:p>
            <a:r>
              <a:rPr kumimoji="1" lang="zh-CN" altLang="en-US" dirty="0"/>
              <a:t>交付条件： 单软件或软硬一体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C9B7DA-3BA6-7477-676E-63687715CEC0}"/>
              </a:ext>
            </a:extLst>
          </p:cNvPr>
          <p:cNvSpPr txBox="1"/>
          <p:nvPr/>
        </p:nvSpPr>
        <p:spPr>
          <a:xfrm>
            <a:off x="3532472" y="4908081"/>
            <a:ext cx="28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企业</a:t>
            </a:r>
            <a:r>
              <a:rPr kumimoji="1" lang="en-US" altLang="zh-CN" dirty="0"/>
              <a:t>AI</a:t>
            </a:r>
            <a:r>
              <a:rPr kumimoji="1" lang="zh-CN" altLang="en-US" dirty="0"/>
              <a:t>治理平台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NovaMLX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98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107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HarmonyOS Sans SC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kehong liu</dc:creator>
  <cp:lastModifiedBy>kehong liu</cp:lastModifiedBy>
  <cp:revision>2</cp:revision>
  <dcterms:created xsi:type="dcterms:W3CDTF">2026-07-15T00:17:33Z</dcterms:created>
  <dcterms:modified xsi:type="dcterms:W3CDTF">2026-07-15T09:29:54Z</dcterms:modified>
</cp:coreProperties>
</file>